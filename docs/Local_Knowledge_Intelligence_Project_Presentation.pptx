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d0c4a3ca814a68" /><Relationship Type="http://schemas.openxmlformats.org/officeDocument/2006/relationships/extended-properties" Target="/docProps/app.xml" Id="Rb14da9f8ae294bc6" /><Relationship Type="http://schemas.openxmlformats.org/officeDocument/2006/relationships/officeDocument" Target="/ppt/presentation.xml" Id="R2ab5bf96ac704d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0b0ef2e9854833"/>
  </p:sldMasterIdLst>
  <p:notesMasterIdLst>
    <p:notesMasterId xmlns:r="http://schemas.openxmlformats.org/officeDocument/2006/relationships" r:id="R8c1e5a55dc2c4963"/>
  </p:notesMasterIdLst>
  <p:sldIdLst>
    <p:sldId xmlns:r="http://schemas.openxmlformats.org/officeDocument/2006/relationships" id="256" r:id="Rc12c7ad461244f8d"/>
    <p:sldId xmlns:r="http://schemas.openxmlformats.org/officeDocument/2006/relationships" id="257" r:id="R082d4982db734165"/>
    <p:sldId xmlns:r="http://schemas.openxmlformats.org/officeDocument/2006/relationships" id="258" r:id="Ra55471e03d4b40c7"/>
    <p:sldId xmlns:r="http://schemas.openxmlformats.org/officeDocument/2006/relationships" id="259" r:id="Rfe7c7266a6694076"/>
    <p:sldId xmlns:r="http://schemas.openxmlformats.org/officeDocument/2006/relationships" id="260" r:id="R25dc63d7424d4be0"/>
    <p:sldId xmlns:r="http://schemas.openxmlformats.org/officeDocument/2006/relationships" id="261" r:id="Rd64ce02c470d4542"/>
    <p:sldId xmlns:r="http://schemas.openxmlformats.org/officeDocument/2006/relationships" id="262" r:id="Re86b9d9c619a4d7e"/>
    <p:sldId xmlns:r="http://schemas.openxmlformats.org/officeDocument/2006/relationships" id="263" r:id="R2e0216b6d8a64aae"/>
    <p:sldId xmlns:r="http://schemas.openxmlformats.org/officeDocument/2006/relationships" id="264" r:id="R1f61e4d6edb349c0"/>
    <p:sldId xmlns:r="http://schemas.openxmlformats.org/officeDocument/2006/relationships" id="265" r:id="Rc052bdd74db94f8c"/>
    <p:sldId xmlns:r="http://schemas.openxmlformats.org/officeDocument/2006/relationships" id="266" r:id="R185bcc8c42f7490e"/>
    <p:sldId xmlns:r="http://schemas.openxmlformats.org/officeDocument/2006/relationships" id="267" r:id="Rf65c6b597fab4312"/>
    <p:sldId xmlns:r="http://schemas.openxmlformats.org/officeDocument/2006/relationships" id="268" r:id="R55fe8b123692490a"/>
    <p:sldId xmlns:r="http://schemas.openxmlformats.org/officeDocument/2006/relationships" id="269" r:id="R15a20088485748da"/>
    <p:sldId xmlns:r="http://schemas.openxmlformats.org/officeDocument/2006/relationships" id="270" r:id="Ra6c7c40e302a40ae"/>
    <p:sldId xmlns:r="http://schemas.openxmlformats.org/officeDocument/2006/relationships" id="271" r:id="R1cc372777c11477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381acda69844f1" /><Relationship Type="http://schemas.openxmlformats.org/officeDocument/2006/relationships/slideMaster" Target="/ppt/slideMasters/slideMaster1.xml" Id="Re70b0ef2e9854833" /><Relationship Type="http://schemas.openxmlformats.org/officeDocument/2006/relationships/notesMaster" Target="/ppt/notesMasters/notesMaster1.xml" Id="R8c1e5a55dc2c4963" /><Relationship Type="http://schemas.openxmlformats.org/officeDocument/2006/relationships/presProps" Target="/ppt/presProps.xml" Id="R671fe3ecc4354285" /><Relationship Type="http://schemas.openxmlformats.org/officeDocument/2006/relationships/tableStyles" Target="/ppt/tableStyles.xml" Id="Reaad4ddf67b84dbe" /><Relationship Type="http://schemas.openxmlformats.org/officeDocument/2006/relationships/slide" Target="/ppt/slides/slide1.xml" Id="Rc12c7ad461244f8d" /><Relationship Type="http://schemas.openxmlformats.org/officeDocument/2006/relationships/slide" Target="/ppt/slides/slide2.xml" Id="R082d4982db734165" /><Relationship Type="http://schemas.openxmlformats.org/officeDocument/2006/relationships/slide" Target="/ppt/slides/slide3.xml" Id="Ra55471e03d4b40c7" /><Relationship Type="http://schemas.openxmlformats.org/officeDocument/2006/relationships/slide" Target="/ppt/slides/slide4.xml" Id="Rfe7c7266a6694076" /><Relationship Type="http://schemas.openxmlformats.org/officeDocument/2006/relationships/slide" Target="/ppt/slides/slide5.xml" Id="R25dc63d7424d4be0" /><Relationship Type="http://schemas.openxmlformats.org/officeDocument/2006/relationships/slide" Target="/ppt/slides/slide6.xml" Id="Rd64ce02c470d4542" /><Relationship Type="http://schemas.openxmlformats.org/officeDocument/2006/relationships/slide" Target="/ppt/slides/slide7.xml" Id="Re86b9d9c619a4d7e" /><Relationship Type="http://schemas.openxmlformats.org/officeDocument/2006/relationships/slide" Target="/ppt/slides/slide8.xml" Id="R2e0216b6d8a64aae" /><Relationship Type="http://schemas.openxmlformats.org/officeDocument/2006/relationships/slide" Target="/ppt/slides/slide9.xml" Id="R1f61e4d6edb349c0" /><Relationship Type="http://schemas.openxmlformats.org/officeDocument/2006/relationships/slide" Target="/ppt/slides/slide10.xml" Id="Rc052bdd74db94f8c" /><Relationship Type="http://schemas.openxmlformats.org/officeDocument/2006/relationships/slide" Target="/ppt/slides/slide11.xml" Id="R185bcc8c42f7490e" /><Relationship Type="http://schemas.openxmlformats.org/officeDocument/2006/relationships/slide" Target="/ppt/slides/slide12.xml" Id="Rf65c6b597fab4312" /><Relationship Type="http://schemas.openxmlformats.org/officeDocument/2006/relationships/slide" Target="/ppt/slides/slide13.xml" Id="R55fe8b123692490a" /><Relationship Type="http://schemas.openxmlformats.org/officeDocument/2006/relationships/slide" Target="/ppt/slides/slide14.xml" Id="R15a20088485748da" /><Relationship Type="http://schemas.openxmlformats.org/officeDocument/2006/relationships/slide" Target="/ppt/slides/slide15.xml" Id="Ra6c7c40e302a40ae" /><Relationship Type="http://schemas.openxmlformats.org/officeDocument/2006/relationships/slide" Target="/ppt/slides/slide16.xml" Id="R1cc372777c1147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f4f7e329af41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ddb7b8ff2049eb" /><Relationship Type="http://schemas.openxmlformats.org/officeDocument/2006/relationships/notesMaster" Target="/ppt/notesMasters/notesMaster1.xml" Id="R6b33a5b799f145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f1bfa71ce54d1a" /><Relationship Type="http://schemas.openxmlformats.org/officeDocument/2006/relationships/notesMaster" Target="/ppt/notesMasters/notesMaster1.xml" Id="Rd8bef39e0d7240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9d2a09385c4092" /><Relationship Type="http://schemas.openxmlformats.org/officeDocument/2006/relationships/notesMaster" Target="/ppt/notesMasters/notesMaster1.xml" Id="R48145d90da3c4f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00726ca14a4015" /><Relationship Type="http://schemas.openxmlformats.org/officeDocument/2006/relationships/notesMaster" Target="/ppt/notesMasters/notesMaster1.xml" Id="R30e05b2dd96744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337efc33a84f9a" /><Relationship Type="http://schemas.openxmlformats.org/officeDocument/2006/relationships/notesMaster" Target="/ppt/notesMasters/notesMaster1.xml" Id="R97e1a5e88ae34b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2cee84e73044d9" /><Relationship Type="http://schemas.openxmlformats.org/officeDocument/2006/relationships/notesMaster" Target="/ppt/notesMasters/notesMaster1.xml" Id="R3a0307ccd8364a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4cc55df6ec4c5e" /><Relationship Type="http://schemas.openxmlformats.org/officeDocument/2006/relationships/notesMaster" Target="/ppt/notesMasters/notesMaster1.xml" Id="R04fb06dbfb8046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277ebe24d844c9" /><Relationship Type="http://schemas.openxmlformats.org/officeDocument/2006/relationships/notesMaster" Target="/ppt/notesMasters/notesMaster1.xml" Id="R67d3b576228c4d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ad3f572c8344e4" /><Relationship Type="http://schemas.openxmlformats.org/officeDocument/2006/relationships/notesMaster" Target="/ppt/notesMasters/notesMaster1.xml" Id="Ra83995fcc5a04b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5025e76dc640d6" /><Relationship Type="http://schemas.openxmlformats.org/officeDocument/2006/relationships/notesMaster" Target="/ppt/notesMasters/notesMaster1.xml" Id="Rc6cb3812fcaa43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7a6f74dd3f432f" /><Relationship Type="http://schemas.openxmlformats.org/officeDocument/2006/relationships/notesMaster" Target="/ppt/notesMasters/notesMaster1.xml" Id="R4db894a7f4a643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324eb0034f4ed9" /><Relationship Type="http://schemas.openxmlformats.org/officeDocument/2006/relationships/notesMaster" Target="/ppt/notesMasters/notesMaster1.xml" Id="R8fdcc223c2ae49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8c5df4e7954aa8" /><Relationship Type="http://schemas.openxmlformats.org/officeDocument/2006/relationships/notesMaster" Target="/ppt/notesMasters/notesMaster1.xml" Id="Rdd841cbbdac441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a8a777ec584768" /><Relationship Type="http://schemas.openxmlformats.org/officeDocument/2006/relationships/notesMaster" Target="/ppt/notesMasters/notesMaster1.xml" Id="R46e3d640372c495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0cde851a9224da4" /><Relationship Type="http://schemas.openxmlformats.org/officeDocument/2006/relationships/notesMaster" Target="/ppt/notesMasters/notesMaster1.xml" Id="R0b2f0fb230a746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27d0f4e6e3470a" /><Relationship Type="http://schemas.openxmlformats.org/officeDocument/2006/relationships/notesMaster" Target="/ppt/notesMasters/notesMaster1.xml" Id="Rb4fabb2ed03446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README/docs/code; Microsoft Learn: What's new in .NET 9, What's new in .NET 10, What's new in C# 13, What's new in C#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README/docs/code; Microsoft Learn: What's new in .NET 9, What's new in .NET 10, What's new in C# 13, What's new in C#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README/docs/code; Microsoft Learn: What's new in .NET 9, What's new in .NET 10, What's new in C# 13, What's new in C#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README/docs/code; Microsoft Learn: What's new in .NET 9, What's new in .NET 10, What's new in C# 13, What's new in C#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README/docs/code; Microsoft Learn: What's new in .NET 9, What's new in .NET 10, What's new in C# 13, What's new in C#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README/docs/code; Microsoft Learn: What's new in .NET 9, What's new in .NET 10, What's new in C# 13, What's new in C#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README/docs/code; Microsoft Learn: What's new in .NET 9, What's new in .NET 10, What's new in C# 13, What's new in C#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README/docs/code; Microsoft Learn: What's new in .NET 9, What's new in .NET 10, What's new in C# 13, What's new in C#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README/docs/code; Microsoft Learn: What's new in .NET 9, What's new in .NET 10, What's new in C# 13, What's new in C#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README/docs/code; Microsoft Learn: What's new in .NET 9, What's new in .NET 10, What's new in C# 13, What's new in C#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README/docs/code; Microsoft Learn: What's new in .NET 9, What's new in .NET 10, What's new in C# 13, What's new in C#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README/docs/code; Microsoft Learn: What's new in .NET 9, What's new in .NET 10, What's new in C# 13, What's new in C#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README/docs/code; Microsoft Learn: What's new in .NET 9, What's new in .NET 10, What's new in C# 13, What's new in C#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README/docs/code; Microsoft Learn: What's new in .NET 9, What's new in .NET 10, What's new in C# 13, What's new in C#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README/docs/code; Microsoft Learn: What's new in .NET 9, What's new in .NET 10, What's new in C# 13, What's new in C#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README/docs/code; Microsoft Learn: What's new in .NET 9, What's new in .NET 10, What's new in C# 13, What's new in C#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63ad07cd54d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992907cc0a478d" /><Relationship Type="http://schemas.openxmlformats.org/officeDocument/2006/relationships/slideLayout" Target="/ppt/slideLayouts/slideLayout1.xml" Id="Ra81dffdd20ed44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1dffdd20ed44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6c69079fc4719" /><Relationship Type="http://schemas.openxmlformats.org/officeDocument/2006/relationships/notesSlide" Target="/ppt/notesSlides/notesSlide1.xml" Id="R013765f6747e41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a6ea2d39f496c" /><Relationship Type="http://schemas.openxmlformats.org/officeDocument/2006/relationships/notesSlide" Target="/ppt/notesSlides/notesSlide2.xml" Id="R4e98174092ec41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b0c2a80984ea4" /><Relationship Type="http://schemas.openxmlformats.org/officeDocument/2006/relationships/notesSlide" Target="/ppt/notesSlides/notesSlide3.xml" Id="R6b9404bcd9ff41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f0fe391414e62" /><Relationship Type="http://schemas.openxmlformats.org/officeDocument/2006/relationships/notesSlide" Target="/ppt/notesSlides/notesSlide4.xml" Id="Rd829491ddb1c41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b7f71069f4aa9" /><Relationship Type="http://schemas.openxmlformats.org/officeDocument/2006/relationships/notesSlide" Target="/ppt/notesSlides/notesSlide5.xml" Id="R1d92cd7416c546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4889199ea41e2" /><Relationship Type="http://schemas.openxmlformats.org/officeDocument/2006/relationships/notesSlide" Target="/ppt/notesSlides/notesSlide6.xml" Id="R4db5e43fa99147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267d807234289" /><Relationship Type="http://schemas.openxmlformats.org/officeDocument/2006/relationships/notesSlide" Target="/ppt/notesSlides/notesSlide7.xml" Id="R3b13c7c06b8843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f908f6ccb48c0" /><Relationship Type="http://schemas.openxmlformats.org/officeDocument/2006/relationships/notesSlide" Target="/ppt/notesSlides/notesSlide8.xml" Id="R5873337997184a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c508090dd4d69" /><Relationship Type="http://schemas.openxmlformats.org/officeDocument/2006/relationships/notesSlide" Target="/ppt/notesSlides/notesSlide9.xml" Id="Re107c70e64a54c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dbb1a89bc4a72" /><Relationship Type="http://schemas.openxmlformats.org/officeDocument/2006/relationships/notesSlide" Target="/ppt/notesSlides/notesSlide10.xml" Id="Re288750ab51a48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8efbf96e44726" /><Relationship Type="http://schemas.openxmlformats.org/officeDocument/2006/relationships/chart" Target="/ppt/slides/charts/chart1.xml" Id="R6443e23bf32947ab" /><Relationship Type="http://schemas.openxmlformats.org/officeDocument/2006/relationships/notesSlide" Target="/ppt/notesSlides/notesSlide11.xml" Id="Ra1c27cebdff144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822638fc34463" /><Relationship Type="http://schemas.openxmlformats.org/officeDocument/2006/relationships/notesSlide" Target="/ppt/notesSlides/notesSlide12.xml" Id="Re74efd723a2642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0031c8d204a79" /><Relationship Type="http://schemas.openxmlformats.org/officeDocument/2006/relationships/notesSlide" Target="/ppt/notesSlides/notesSlide13.xml" Id="R68a8aa34edd449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652f0e3c043b9" /><Relationship Type="http://schemas.openxmlformats.org/officeDocument/2006/relationships/notesSlide" Target="/ppt/notesSlides/notesSlide14.xml" Id="Ra138ce4d0ee34b3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62e1a62974181" /><Relationship Type="http://schemas.openxmlformats.org/officeDocument/2006/relationships/notesSlide" Target="/ppt/notesSlides/notesSlide15.xml" Id="R4352d816804e4cf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46273719d40f0" /><Relationship Type="http://schemas.openxmlformats.org/officeDocument/2006/relationships/notesSlide" Target="/ppt/notesSlides/notesSlide16.xml" Id="R2b1c683b42bc4581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Weight</c:v>
          </c:tx>
          <c:spPr>
            <a:solidFill xmlns:a="http://schemas.openxmlformats.org/drawingml/2006/main">
              <a:srgbClr val="0F766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Vector</c:v>
              </c:pt>
              <c:pt idx="1">
                <c:v>Keyword</c:v>
              </c:pt>
              <c:pt idx="2">
                <c:v>Recency</c:v>
              </c:pt>
            </c:strLit>
          </c:cat>
          <c:val>
            <c:numLit>
              <c:formatCode>General</c:formatCode>
              <c:ptCount val="3"/>
              <c:pt idx="0">
                <c:v>65</c:v>
              </c:pt>
              <c:pt idx="1">
                <c:v>30</c:v>
              </c:pt>
              <c:pt idx="2">
                <c:v>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32FC24-C4F3-455E-AF13-52AD1E37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LOCAL KNOWLEDGE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CBCF7-C450-4519-B175-6E3E48E2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334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.NET 10 | C# 14 | AI Search | pgvector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D2CD7-AF56-4F1B-B7E4-26FB3D04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781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Local Knowledge</a:t>
            </a:r>
          </a:p>
          <a:p xmlns:a="http://schemas.openxmlformats.org/drawingml/2006/main">
            <a:pPr algn="l">
              <a:defRPr sz="435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Intelligence Agent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C05FE-1246-48AB-8B68-D53DDEF5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Project goals, architecture, document ingestion, chunking, search, ranking, grounded agent workflow, and modern .NET/C# features.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513C2-CFEF-4149-9B77-6CAFB649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571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71450" tIns="133350" rIns="171450" bIns="1143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Private docs</a:t>
            </a:r>
          </a:p>
          <a:p xmlns:a="http://schemas.openxmlformats.org/drawingml/2006/main">
            <a:pPr algn="ctr">
              <a:defRPr sz="180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+</a:t>
            </a:r>
          </a:p>
          <a:p xmlns:a="http://schemas.openxmlformats.org/drawingml/2006/main">
            <a:pPr algn="ctr">
              <a:defRPr sz="180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Embeddings</a:t>
            </a:r>
          </a:p>
          <a:p xmlns:a="http://schemas.openxmlformats.org/drawingml/2006/main">
            <a:pPr algn="ctr">
              <a:defRPr sz="180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+</a:t>
            </a:r>
          </a:p>
          <a:p xmlns:a="http://schemas.openxmlformats.org/drawingml/2006/main">
            <a:pPr algn="ctr">
              <a:defRPr sz="180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Hybrid search</a:t>
            </a:r>
          </a:p>
          <a:p xmlns:a="http://schemas.openxmlformats.org/drawingml/2006/main">
            <a:pPr algn="ctr">
              <a:defRPr sz="180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+</a:t>
            </a:r>
          </a:p>
          <a:p xmlns:a="http://schemas.openxmlformats.org/drawingml/2006/main">
            <a:pPr algn="ctr">
              <a:defRPr sz="180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Cited answers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FC4BE-B8AC-481E-B370-06E9386F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Local Knowledge Intelligence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194A2-45E0-478E-A907-9BD981E8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814778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F0329F-C0D4-44A3-B6C9-0A5D0894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Project 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69C67-C58A-471A-96CA-208541CB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93DC9-F8CA-4ABC-8C1B-E693EB8B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What this platform is designed to prove and deliver.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80573-0905-4C60-9AFA-E39ECE6D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Local Knowledge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FE5EF-2673-4CB0-B107-8943C29E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80CB4-2576-4636-87E0-A5B6D784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455926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199BF-8FD7-4779-887B-90B9DD07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276" y="2095500"/>
            <a:ext cx="446532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means for 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177C9-6223-4E65-B4B4-AD1127C5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596" y="2095500"/>
            <a:ext cx="4242054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Engineering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F0307-50E4-4D16-90D4-F4C8D990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2455926" cy="747713"/>
          </a:xfrm>
          <a:prstGeom xmlns:a="http://schemas.openxmlformats.org/drawingml/2006/main" prst="roundRect">
            <a:avLst>
              <a:gd name="adj" fmla="val 101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Private knowledge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09BA5-6CB0-4315-B92C-A9474AE5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276" y="2533650"/>
            <a:ext cx="4465320" cy="747713"/>
          </a:xfrm>
          <a:prstGeom xmlns:a="http://schemas.openxmlformats.org/drawingml/2006/main" prst="roundRect">
            <a:avLst>
              <a:gd name="adj" fmla="val 101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Upload or create local source material and keep answers grounded in that corpus.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D9B18-61FA-449A-9310-5333155F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596" y="2533650"/>
            <a:ext cx="4242054" cy="747713"/>
          </a:xfrm>
          <a:prstGeom xmlns:a="http://schemas.openxmlformats.org/drawingml/2006/main" prst="roundRect">
            <a:avLst>
              <a:gd name="adj" fmla="val 101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Documents, chunks, vectors, and citations are stored locally in PostgreSQL.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13DEC-9CE2-4D7E-99EF-C01A2A94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81363"/>
            <a:ext cx="2455926" cy="747713"/>
          </a:xfrm>
          <a:prstGeom xmlns:a="http://schemas.openxmlformats.org/drawingml/2006/main" prst="roundRect">
            <a:avLst>
              <a:gd name="adj" fmla="val 101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Useful AI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A0F41-B10C-4B6C-B46F-1F9FA1D9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276" y="3281363"/>
            <a:ext cx="4465320" cy="747713"/>
          </a:xfrm>
          <a:prstGeom xmlns:a="http://schemas.openxmlformats.org/drawingml/2006/main" prst="roundRect">
            <a:avLst>
              <a:gd name="adj" fmla="val 101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Find relevant material with exact terms, meaning-based search, or a balanced hybrid mode.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A8497-1D13-4F21-9449-3A0554AA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596" y="3281363"/>
            <a:ext cx="4242054" cy="747713"/>
          </a:xfrm>
          <a:prstGeom xmlns:a="http://schemas.openxmlformats.org/drawingml/2006/main" prst="roundRect">
            <a:avLst>
              <a:gd name="adj" fmla="val 101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Keyword, semantic, and hybrid endpoints share typed contracts.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38458-DA48-4164-A0F3-B6CB8D7F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29075"/>
            <a:ext cx="2455926" cy="747713"/>
          </a:xfrm>
          <a:prstGeom xmlns:a="http://schemas.openxmlformats.org/drawingml/2006/main" prst="roundRect">
            <a:avLst>
              <a:gd name="adj" fmla="val 101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Trustworthy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3C78B-BA70-4398-8E93-487AE741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276" y="4029075"/>
            <a:ext cx="4465320" cy="747713"/>
          </a:xfrm>
          <a:prstGeom xmlns:a="http://schemas.openxmlformats.org/drawingml/2006/main" prst="roundRect">
            <a:avLst>
              <a:gd name="adj" fmla="val 101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Ask questions and see the chunks used to answer.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4E102-D034-413D-9F26-57D7B303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596" y="4029075"/>
            <a:ext cx="4242054" cy="747713"/>
          </a:xfrm>
          <a:prstGeom xmlns:a="http://schemas.openxmlformats.org/drawingml/2006/main" prst="roundRect">
            <a:avLst>
              <a:gd name="adj" fmla="val 101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runs persist retrieval, answer, and citation steps.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64677-6B85-4C55-8E15-740CE575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76788"/>
            <a:ext cx="2455926" cy="747713"/>
          </a:xfrm>
          <a:prstGeom xmlns:a="http://schemas.openxmlformats.org/drawingml/2006/main" prst="roundRect">
            <a:avLst>
              <a:gd name="adj" fmla="val 101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Production shape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2278C-DFFA-44A8-83AD-B909C384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276" y="4776788"/>
            <a:ext cx="4465320" cy="747713"/>
          </a:xfrm>
          <a:prstGeom xmlns:a="http://schemas.openxmlformats.org/drawingml/2006/main" prst="roundRect">
            <a:avLst>
              <a:gd name="adj" fmla="val 101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Operate the app with auth, health checks, Swagger, and tests.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AA6D4-8AC9-4B99-AE92-6B2475F2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596" y="4776788"/>
            <a:ext cx="4242054" cy="747713"/>
          </a:xfrm>
          <a:prstGeom xmlns:a="http://schemas.openxmlformats.org/drawingml/2006/main" prst="roundRect">
            <a:avLst>
              <a:gd name="adj" fmla="val 101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Layered .NET architecture with DI, validation, ProblemDetails, and smoke tests.</a:t>
            </a:r>
          </a:p>
        </p:txBody>
      </p:sp>
    </p:spTree>
    <p:extLst>
      <p:ext uri="{BB962C8B-B14F-4D97-AF65-F5344CB8AC3E}">
        <p14:creationId xmlns:p14="http://schemas.microsoft.com/office/powerpoint/2010/main" val="16349534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B078DE-8E62-423B-A240-62F3F416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Capability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B159D-3B1E-4BDA-A9D3-054523ED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91CB1-BAF7-4D53-BB88-59C941FB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The app is a full local RAG platform, not only a chat demo.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EF1BB-1430-4932-BFCD-2FBC697A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Local Knowledge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2AF81-579A-4DE7-AFC0-0B8BE01D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71D9A-CE0F-4127-A05D-125DB58A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24574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152400" tIns="171450" rIns="152400" bIns="13335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 UI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Dashboard, documents, upload, search, agent, evaluation, settings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1BAF9-C991-4F2C-B8C1-CCBC9DE4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24574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152400" tIns="171450" rIns="152400" bIns="13335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Documents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Create, upload, update, delete, chunk, embed, re-index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415C5-0470-4B7E-BAD2-3A7DAE3C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24574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D08A"/>
            </a:solidFill>
            <a:prstDash val="solid"/>
          </a:ln>
        </p:spPr>
        <p:txBody>
          <a:bodyPr xmlns:a="http://schemas.openxmlformats.org/drawingml/2006/main" lIns="152400" tIns="171450" rIns="152400" bIns="13335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Search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Keyword, semantic, hybrid, scores, matched fields, source links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76EC0-4816-45D1-86B8-EA65B805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4574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  <p:txBody>
          <a:bodyPr xmlns:a="http://schemas.openxmlformats.org/drawingml/2006/main" lIns="152400" tIns="171450" rIns="152400" bIns="13335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Grounded answers, citations, sessions, run-step inspection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27A73-06EA-4D45-9875-B02017B9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Each capability feeds the next: source material becomes chunks, chunks become vectors, retrieval becomes cited answers, and evaluation closes the loop.</a:t>
            </a:r>
          </a:p>
        </p:txBody>
      </p:sp>
    </p:spTree>
    <p:extLst>
      <p:ext uri="{BB962C8B-B14F-4D97-AF65-F5344CB8AC3E}">
        <p14:creationId xmlns:p14="http://schemas.microsoft.com/office/powerpoint/2010/main" val="14750257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8A6CCC-AA35-44C1-BC3B-084DA89F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Solution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D020F-B705-46EC-9795-F39A4008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ABC6D-8D1D-4B66-B175-AB88DD09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A layered modular monolith keeps the API thin and isolates infrastructure.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0BBDD-D9B1-4E4D-A53C-48A3F01E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Local Knowledge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904C5-63D8-4E00-A3FC-97073F62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9BD66-6CE2-4ED8-A801-1FA0393B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619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171450" tIns="76200" rIns="171450" bIns="571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Next.js admin frontend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Typed REST calls, auth token storage, smoke-tested routes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D30D8-379E-48E1-AC36-F201AEAF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619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171450" tIns="76200" rIns="171450" bIns="571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ASP.NET Core API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JWT validation, Swagger/OpenAPI, CORS, health checks, Minimal API groups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B2C7F-5F73-47E7-BF5B-63A457D9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619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  <p:txBody>
          <a:bodyPr xmlns:a="http://schemas.openxmlformats.org/drawingml/2006/main" lIns="171450" tIns="76200" rIns="171450" bIns="571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Application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cases, validation, chunking, search scoring, agent and evaluation orchestration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9B0A2-C721-41F9-8523-C9CEF761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619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D08A"/>
            </a:solidFill>
            <a:prstDash val="solid"/>
          </a:ln>
        </p:spPr>
        <p:txBody>
          <a:bodyPr xmlns:a="http://schemas.openxmlformats.org/drawingml/2006/main" lIns="171450" tIns="76200" rIns="171450" bIns="571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Domain + Contracts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Entities, enums, DTO records, citations, evaluation results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D5252-861C-4EEB-B83C-72358AFA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619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D8B4FE"/>
            </a:solidFill>
            <a:prstDash val="solid"/>
          </a:ln>
        </p:spPr>
        <p:txBody>
          <a:bodyPr xmlns:a="http://schemas.openxmlformats.org/drawingml/2006/main" lIns="171450" tIns="76200" rIns="171450" bIns="571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Infrastructure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EF Core, PostgreSQL/pgvector, OpenAI clients, JWT issuing, migrations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4203F-B74C-41B2-9E21-740A569D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71450" tIns="133350" rIns="171450" bIns="1143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Boundary rule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Domain and contracts do not reference infrastructure. Application services depend on interfaces, while repositories and external clients live in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70881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C8D5A5-A59A-4E30-B73D-359FD95E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End-to-end project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866BC-402A-4704-BA13-09D27A35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BE9F3-E628-4373-B5A3-0E4FDFE8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From local source material to cited AI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3A928-246B-407C-883B-0970878E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Local Knowledge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447DA-51B3-4F0D-B18C-209B9C5C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30E2A-627C-4B53-AFF6-BFFE14C5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1039586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A9A0E-1741-433C-89E9-13294CE4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486" y="25622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B210E-4DD0-4938-AA33-5583EA10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636" y="2343150"/>
            <a:ext cx="1039586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Create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or upload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E9A12-B928-42AD-B8D9-694C7BAC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771" y="25622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A6FCB-07CA-41F1-B9E0-CFD5B3A6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921" y="2343150"/>
            <a:ext cx="1039586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Chunk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36418-CF43-4F56-AB8F-EB6CB8CC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057" y="25622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46AA1-2050-42B2-B8C0-93FFD48C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6207" y="2343150"/>
            <a:ext cx="1039586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Embed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72C17-DB0E-44D8-8DFD-7BD5F94F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343" y="25622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CA12C-889C-442C-ACCC-CBB4E4AA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493" y="2343150"/>
            <a:ext cx="1039586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0A314-F803-43E2-B79B-7A11628A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2629" y="25622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FFDF2-C103-4213-9248-F6CBA291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779" y="2343150"/>
            <a:ext cx="1039586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Agent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0883A-AF7C-4BC0-B950-C7FE5313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9914" y="25622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D56B5-03BD-4298-9745-F06AE128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064" y="2343150"/>
            <a:ext cx="1039586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1BDFF-DE0D-4045-AF72-860B9735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2009394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C7254-8918-4698-8D8D-F4D6D516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44" y="3714750"/>
            <a:ext cx="5358384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responsibility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0D9FE8-A967-4060-97A0-37ED603A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3714750"/>
            <a:ext cx="3795522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User-visible 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8E20EB-B755-4291-A773-58C6A366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52900"/>
            <a:ext cx="2009394" cy="414338"/>
          </a:xfrm>
          <a:prstGeom xmlns:a="http://schemas.openxmlformats.org/drawingml/2006/main" prst="roundRect">
            <a:avLst>
              <a:gd name="adj" fmla="val 18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Ingestion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7CDE7F-06D0-437B-A944-D4F096B9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44" y="4152900"/>
            <a:ext cx="5358384" cy="414338"/>
          </a:xfrm>
          <a:prstGeom xmlns:a="http://schemas.openxmlformats.org/drawingml/2006/main" prst="roundRect">
            <a:avLst>
              <a:gd name="adj" fmla="val 18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Validate document title, content, tags, metadata, and uploaded file properties.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3E6FDE-50B8-4E91-BB20-A38AA4C5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4152900"/>
            <a:ext cx="3795522" cy="414338"/>
          </a:xfrm>
          <a:prstGeom xmlns:a="http://schemas.openxmlformats.org/drawingml/2006/main" prst="roundRect">
            <a:avLst>
              <a:gd name="adj" fmla="val 18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Document appears in the admin document list.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D98B3A-1066-4881-BC8B-98F6BC8F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67238"/>
            <a:ext cx="2009394" cy="414338"/>
          </a:xfrm>
          <a:prstGeom xmlns:a="http://schemas.openxmlformats.org/drawingml/2006/main" prst="roundRect">
            <a:avLst>
              <a:gd name="adj" fmla="val 18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Indexing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449C4C-DE89-45CC-A68E-D8145EA9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44" y="4567238"/>
            <a:ext cx="5358384" cy="414338"/>
          </a:xfrm>
          <a:prstGeom xmlns:a="http://schemas.openxmlformats.org/drawingml/2006/main" prst="roundRect">
            <a:avLst>
              <a:gd name="adj" fmla="val 18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Replace chunks, generate missing embeddings, and store vector metadata.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3F9187-C45B-4926-A047-165A158A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4567238"/>
            <a:ext cx="3795522" cy="414338"/>
          </a:xfrm>
          <a:prstGeom xmlns:a="http://schemas.openxmlformats.org/drawingml/2006/main" prst="roundRect">
            <a:avLst>
              <a:gd name="adj" fmla="val 18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Chunking and embedding statuses become visible.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81FAFF-23E4-4B8A-815E-B75ABE21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81575"/>
            <a:ext cx="2009394" cy="414338"/>
          </a:xfrm>
          <a:prstGeom xmlns:a="http://schemas.openxmlformats.org/drawingml/2006/main" prst="roundRect">
            <a:avLst>
              <a:gd name="adj" fmla="val 18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Retrieval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C567F7-6493-40A0-8859-6DD715F8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44" y="4981575"/>
            <a:ext cx="5358384" cy="414338"/>
          </a:xfrm>
          <a:prstGeom xmlns:a="http://schemas.openxmlformats.org/drawingml/2006/main" prst="roundRect">
            <a:avLst>
              <a:gd name="adj" fmla="val 18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Run keyword, semantic, or hybrid search with score breakdown.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824756-5CC7-4AA2-8C7F-868BA3B8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4981575"/>
            <a:ext cx="3795522" cy="414338"/>
          </a:xfrm>
          <a:prstGeom xmlns:a="http://schemas.openxmlformats.org/drawingml/2006/main" prst="roundRect">
            <a:avLst>
              <a:gd name="adj" fmla="val 18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Ranked chunks and source-document links.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BCAE7C-6581-414D-A952-D511B323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5913"/>
            <a:ext cx="2009394" cy="414338"/>
          </a:xfrm>
          <a:prstGeom xmlns:a="http://schemas.openxmlformats.org/drawingml/2006/main" prst="roundRect">
            <a:avLst>
              <a:gd name="adj" fmla="val 18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Answering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2D2C73-16EC-43F8-AD26-460B2112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44" y="5395913"/>
            <a:ext cx="5358384" cy="414338"/>
          </a:xfrm>
          <a:prstGeom xmlns:a="http://schemas.openxmlformats.org/drawingml/2006/main" prst="roundRect">
            <a:avLst>
              <a:gd name="adj" fmla="val 18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Build a grounded prompt from retrieved chunks and return citations.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A1DE65-537D-441C-8880-6276FE78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5395913"/>
            <a:ext cx="3795522" cy="414338"/>
          </a:xfrm>
          <a:prstGeom xmlns:a="http://schemas.openxmlformats.org/drawingml/2006/main" prst="roundRect">
            <a:avLst>
              <a:gd name="adj" fmla="val 18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Answer, citations, run steps, and evaluation feedback.</a:t>
            </a:r>
          </a:p>
        </p:txBody>
      </p:sp>
    </p:spTree>
    <p:extLst>
      <p:ext uri="{BB962C8B-B14F-4D97-AF65-F5344CB8AC3E}">
        <p14:creationId xmlns:p14="http://schemas.microsoft.com/office/powerpoint/2010/main" val="15424456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370455-923D-47F0-A2BE-336EB1E1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Document ingestion and upload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1F754-FF60-4B7F-8078-CC8268F2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8C01E-909C-44DC-8584-3DA372BD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The UI supports both manual entry and file upload into the same validated pipeline.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C439C-79EF-4557-A045-B8BBAC67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Local Knowledge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6834C-EAC4-440D-A964-C1861535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3ED0E-DABC-4124-BFEA-900E5AA8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52578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209550" tIns="209550" rIns="209550" bIns="1524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Manual document creation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Users enter title, content, tags, and metadata JSON. The same form can save only or save and embed immediately using POST /api/documents?index=true.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DE443-A7B6-4C82-A8F8-02155234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52578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209550" tIns="209550" rIns="209550" bIns="1524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File upload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Users upload UTF-8 text-like files: .txt, .md, .markdown, .json, .csv, and .log. The upload endpoint creates a normal document and records file metadata.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C8277-D362-446D-8462-EB49FDEF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146304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Validate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form/file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26019-D384-4F01-8773-38338C65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590" y="55530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7DC8E-5B89-4965-B3A5-7D99EF75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3740" y="5429250"/>
            <a:ext cx="146304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Create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document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4CAAF-A841-4649-9F43-57DD600B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6330" y="55530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0E742-C811-4C6E-A200-F7E0EF62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480" y="5429250"/>
            <a:ext cx="146304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Optional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chunk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2BDA1-AB10-410D-BCD0-9CC21346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070" y="55530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4FEBD-08F9-4883-803B-CA8949D9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220" y="5429250"/>
            <a:ext cx="146304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Optional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embed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CB13E9-4586-4918-81E9-DC64EC4D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810" y="55530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F5CB9-12B1-46F9-AFB7-E1244196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5429250"/>
            <a:ext cx="146304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Open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detail</a:t>
            </a:r>
          </a:p>
        </p:txBody>
      </p:sp>
    </p:spTree>
    <p:extLst>
      <p:ext uri="{BB962C8B-B14F-4D97-AF65-F5344CB8AC3E}">
        <p14:creationId xmlns:p14="http://schemas.microsoft.com/office/powerpoint/2010/main" val="8853982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FF5ECC-8BB0-4312-8917-E67259A7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How documents become chunks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F582C-0C4F-43DE-AD08-D5691CBB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7B8F0-5024-4E6C-BF34-B00CF97C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Chunking is deterministic, paragraph-aware, and repeatable for search debugging.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F5BF0-3B10-41E4-B809-52B7A3C5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Local Knowledge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B20C3-3EA3-4652-A32F-639FC62B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2E7AA-8642-4B9C-B5C4-38641585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171450" tIns="133350" rIns="171450" bIns="1143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 Split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Content is split on blank-line paragraph boundaries where possible.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90508-5830-414D-B920-C15B452E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171450" tIns="133350" rIns="171450" bIns="1143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 Estimate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Token estimate uses ceiling(text length / 4) for predictable local chunk sizing.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5868C-088B-4A9E-80BF-3C3285CD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D08A"/>
            </a:solidFill>
            <a:prstDash val="solid"/>
          </a:ln>
        </p:spPr>
        <p:txBody>
          <a:bodyPr xmlns:a="http://schemas.openxmlformats.org/drawingml/2006/main" lIns="171450" tIns="133350" rIns="171450" bIns="1143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 Fill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Paragraphs are added until target token count would be exceeded.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33568-B398-43B9-99C0-F1741A4E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907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  <p:txBody>
          <a:bodyPr xmlns:a="http://schemas.openxmlformats.org/drawingml/2006/main" lIns="171450" tIns="133350" rIns="171450" bIns="1143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4. Overlap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 bounded overlap buffer carries recent paragraphs into the next chunk.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448B8-C274-4904-9069-F617ABE2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Each chunk keeps metadata: documentTitle, chunkIndex, sourceType, tokenEstimate, embedding model, dimensions, and generated timestamp.</a:t>
            </a:r>
          </a:p>
        </p:txBody>
      </p:sp>
    </p:spTree>
    <p:extLst>
      <p:ext uri="{BB962C8B-B14F-4D97-AF65-F5344CB8AC3E}">
        <p14:creationId xmlns:p14="http://schemas.microsoft.com/office/powerpoint/2010/main" val="7173582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9DE52E-C004-4908-B270-5D60EF1A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Embeddings and vector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1B08F-CE50-4B9E-B0B9-4E2B4515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A46E7-D94F-4BD0-B5AB-AF49F468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The index turns chunk text into vectors that PostgreSQL can rank by distance.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BB226-BE51-4129-98D6-6B384333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Local Knowledge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56E8E-8F86-44E5-8A0C-6B3D944A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FDEB2-C4C5-4843-983B-729F7012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14630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Chunk 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AC278-32A5-40B2-8C8C-3C815745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590" y="22860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814F3-065F-43E9-B9EE-33AE8D83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3740" y="2095500"/>
            <a:ext cx="14630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OpenAI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embedding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171B2-6EDE-4734-A056-2C91AA53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6330" y="22860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83B05-FF0F-4309-A3C0-95234D34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480" y="2095500"/>
            <a:ext cx="14630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vector(1536)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21213-E31B-4EC0-A09B-DF130100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070" y="22860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58D33-DB74-4496-9A08-AF4ADE8D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220" y="2095500"/>
            <a:ext cx="14630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HNSW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index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9A08D-D25A-4C1C-9FA0-12C61804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810" y="22860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1F374-EA44-4D1B-8823-FEDBF9BF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2095500"/>
            <a:ext cx="14630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Cosine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4EDAC-A523-4131-B84C-4EB72F91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2455926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1D72A-6E6C-4423-841F-E1BC99A5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276" y="3429000"/>
            <a:ext cx="446532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516A0-B3E9-46C8-A290-BBB9E4A5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596" y="3429000"/>
            <a:ext cx="4242054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FEF019-4536-4585-8F56-1FB49062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455926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Embedding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146CAF-891C-4632-8233-1B2EC935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276" y="3867150"/>
            <a:ext cx="446532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text-embedding-3-small with configured dimensions.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C6408D-FFF0-41C7-8F7B-2E5DBCDE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596" y="3867150"/>
            <a:ext cx="4242054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Consistent vector size for pgvector storage.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DBBC6-5600-4460-B896-55609846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455926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Vector column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1CE3F1-31B1-4CF9-82E1-B904F148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276" y="4305300"/>
            <a:ext cx="446532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document_chunks.embedding vector(1536).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16BAE-298A-46BD-A4B0-F08AE342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596" y="4305300"/>
            <a:ext cx="4242054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Enables semantic similarity search.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93DBBF-E397-401C-9533-A692FFCF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2455926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Indexes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33C59C-4C0C-4D91-8F1F-A613D9AC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276" y="4743450"/>
            <a:ext cx="446532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HNSW vector index plus trigram text index.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786797-45CB-4768-9E6A-B48FEB37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596" y="4743450"/>
            <a:ext cx="4242054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Supports fast semantic and keyword retrieval.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BFC40C-FFE7-4658-89ED-A7FCEBE4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2455926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Storage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59E2D3-DD6F-4368-885A-5D38DE5D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276" y="5181600"/>
            <a:ext cx="446532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EF Core metadata plus parameterized SQL for vectors.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7BAA7D-F89F-4AA6-8037-24D3598E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596" y="5181600"/>
            <a:ext cx="4242054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Keeps relational data typed and vector writes safe.</a:t>
            </a:r>
          </a:p>
        </p:txBody>
      </p:sp>
    </p:spTree>
    <p:extLst>
      <p:ext uri="{BB962C8B-B14F-4D97-AF65-F5344CB8AC3E}">
        <p14:creationId xmlns:p14="http://schemas.microsoft.com/office/powerpoint/2010/main" val="2800793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62F0E4-485B-4372-B756-004270C9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Search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2E35A-3EC3-4698-BE4B-8DE6A434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06D38-4408-40F2-A191-E8C749CD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The platform supports exact search, meaning search, and a balanced hybrid mode.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7D490-FEE4-45B3-9FC0-902AEC3F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Local Knowledge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C3960-4BF2-49C9-9AC0-EB558DA8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91B8B-E3A6-4F1B-9451-CF7B1B29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786128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A67F7-829C-4E7B-A6AB-C9A27FF8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8" y="2095500"/>
            <a:ext cx="3125724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Best for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9567E-8E5C-408B-9E69-B74DCA88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202" y="2095500"/>
            <a:ext cx="4018788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D86C3-23AE-47DB-A9C1-FA9EDAB7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90" y="2095500"/>
            <a:ext cx="223266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Returned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8E7DC-F2DA-48A0-8BD5-357D50FB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786128" cy="795338"/>
          </a:xfrm>
          <a:prstGeom xmlns:a="http://schemas.openxmlformats.org/drawingml/2006/main" prst="roundRect">
            <a:avLst>
              <a:gd name="adj" fmla="val 9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Keyword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19E02-7AED-4ACF-A56F-E881DEF0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8" y="2533650"/>
            <a:ext cx="3125724" cy="795338"/>
          </a:xfrm>
          <a:prstGeom xmlns:a="http://schemas.openxmlformats.org/drawingml/2006/main" prst="roundRect">
            <a:avLst>
              <a:gd name="adj" fmla="val 9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Exact names, APIs, database fields, tags.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DBE58-A44C-449E-BD4F-E3252AA5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202" y="2533650"/>
            <a:ext cx="4018788" cy="795338"/>
          </a:xfrm>
          <a:prstGeom xmlns:a="http://schemas.openxmlformats.org/drawingml/2006/main" prst="roundRect">
            <a:avLst>
              <a:gd name="adj" fmla="val 9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Scores title, tags, summary, document content, and chunk 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852A23-C187-49C9-9734-021CE919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90" y="2533650"/>
            <a:ext cx="2232660" cy="795338"/>
          </a:xfrm>
          <a:prstGeom xmlns:a="http://schemas.openxmlformats.org/drawingml/2006/main" prst="roundRect">
            <a:avLst>
              <a:gd name="adj" fmla="val 9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keywordScore, matchedFields, snippet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69E8E-282B-45FE-9727-02F0D260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28988"/>
            <a:ext cx="1786128" cy="795338"/>
          </a:xfrm>
          <a:prstGeom xmlns:a="http://schemas.openxmlformats.org/drawingml/2006/main" prst="roundRect">
            <a:avLst>
              <a:gd name="adj" fmla="val 958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Semantic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A0428-5714-4937-BEFC-9D7BBD65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8" y="3328988"/>
            <a:ext cx="3125724" cy="795338"/>
          </a:xfrm>
          <a:prstGeom xmlns:a="http://schemas.openxmlformats.org/drawingml/2006/main" prst="roundRect">
            <a:avLst>
              <a:gd name="adj" fmla="val 958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Questions that use different wording than the source.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43C74-6FFB-4830-9236-3A76F273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202" y="3328988"/>
            <a:ext cx="4018788" cy="795338"/>
          </a:xfrm>
          <a:prstGeom xmlns:a="http://schemas.openxmlformats.org/drawingml/2006/main" prst="roundRect">
            <a:avLst>
              <a:gd name="adj" fmla="val 958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Embeds the query and orders pgvector cosine distance with &lt;=&gt;.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D2D3C7-EE68-4D96-803A-69DC0BBE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90" y="3328988"/>
            <a:ext cx="2232660" cy="795338"/>
          </a:xfrm>
          <a:prstGeom xmlns:a="http://schemas.openxmlformats.org/drawingml/2006/main" prst="roundRect">
            <a:avLst>
              <a:gd name="adj" fmla="val 958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distance, vectorScore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8E4E8-26C6-44F3-8509-971D8837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1786128" cy="795338"/>
          </a:xfrm>
          <a:prstGeom xmlns:a="http://schemas.openxmlformats.org/drawingml/2006/main" prst="roundRect">
            <a:avLst>
              <a:gd name="adj" fmla="val 9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Hybrid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C5710-7880-4428-8C52-2E532960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8" y="4124325"/>
            <a:ext cx="3125724" cy="795338"/>
          </a:xfrm>
          <a:prstGeom xmlns:a="http://schemas.openxmlformats.org/drawingml/2006/main" prst="roundRect">
            <a:avLst>
              <a:gd name="adj" fmla="val 9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Default knowledge search and agent retrieval.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B701E9-1265-4113-AF86-34DEDFD2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202" y="4124325"/>
            <a:ext cx="4018788" cy="795338"/>
          </a:xfrm>
          <a:prstGeom xmlns:a="http://schemas.openxmlformats.org/drawingml/2006/main" prst="roundRect">
            <a:avLst>
              <a:gd name="adj" fmla="val 9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Merges semantic and keyword candidates, then recalculates final score.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838E26-A8FE-4577-B827-35990A3B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90" y="4124325"/>
            <a:ext cx="2232660" cy="795338"/>
          </a:xfrm>
          <a:prstGeom xmlns:a="http://schemas.openxmlformats.org/drawingml/2006/main" prst="roundRect">
            <a:avLst>
              <a:gd name="adj" fmla="val 9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vector, keyword, recency, finalScore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B1F13-EEBD-4557-B1E1-AE62239F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19663"/>
            <a:ext cx="1786128" cy="795338"/>
          </a:xfrm>
          <a:prstGeom xmlns:a="http://schemas.openxmlformats.org/drawingml/2006/main" prst="roundRect">
            <a:avLst>
              <a:gd name="adj" fmla="val 958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CC8EFF-3891-4101-86F8-0F159EF3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8" y="4919663"/>
            <a:ext cx="3125724" cy="795338"/>
          </a:xfrm>
          <a:prstGeom xmlns:a="http://schemas.openxmlformats.org/drawingml/2006/main" prst="roundRect">
            <a:avLst>
              <a:gd name="adj" fmla="val 958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Grounded question answering over local content.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5E1401-BEF3-459F-8F51-FD89907E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202" y="4919663"/>
            <a:ext cx="4018788" cy="795338"/>
          </a:xfrm>
          <a:prstGeom xmlns:a="http://schemas.openxmlformats.org/drawingml/2006/main" prst="roundRect">
            <a:avLst>
              <a:gd name="adj" fmla="val 958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Runs selected search mode, passes Top K chunks to the prompt.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7760A0-C52C-4E0E-BD9F-E30554FD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90" y="4919663"/>
            <a:ext cx="2232660" cy="795338"/>
          </a:xfrm>
          <a:prstGeom xmlns:a="http://schemas.openxmlformats.org/drawingml/2006/main" prst="roundRect">
            <a:avLst>
              <a:gd name="adj" fmla="val 958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answer, citations, run steps</a:t>
            </a:r>
          </a:p>
        </p:txBody>
      </p:sp>
    </p:spTree>
    <p:extLst>
      <p:ext uri="{BB962C8B-B14F-4D97-AF65-F5344CB8AC3E}">
        <p14:creationId xmlns:p14="http://schemas.microsoft.com/office/powerpoint/2010/main" val="4934462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ACDA9A-F911-45D1-8EF7-D5E037A2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Keyword and semantic search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0B034-C5CE-4C30-A9F5-811516B0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797B3-9677-456C-9777-F00AB020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Two retrieval paths expose different strengths before hybrid ranking combines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60867-2E62-4D80-B1F1-401E00FD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Local Knowledge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BF28E-88AC-4D0E-AF3F-5260DB68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D9C2B-42C3-4E50-8B86-8D7A002D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52578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209550" tIns="209550" rIns="209550" bIns="1524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Keyword search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Uses lexical weights across title (+5), tags (+4), summary (+3), chunk content (+2), and document content (+1). It is strongest when the query names exact technical terms.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0A882-E152-420F-B676-FD51F7EA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2578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209550" tIns="209550" rIns="209550" bIns="1524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Semantic search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Generates a query embedding, compares it to chunk vectors with pgvector cosine distance, and converts distance into a vector score. It is strongest when wording differs from the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A03C9-DB25-453B-A338-A593FD3D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86375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  <p:txBody>
          <a:bodyPr xmlns:a="http://schemas.openxmlformats.org/drawingml/2006/main" lIns="76200" tIns="5715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Keyword = precise terms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4D464-6412-443D-8567-10909DD1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86375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E6F5F3"/>
            </a:solidFill>
            <a:prstDash val="solid"/>
          </a:ln>
        </p:spPr>
        <p:txBody>
          <a:bodyPr xmlns:a="http://schemas.openxmlformats.org/drawingml/2006/main" lIns="76200" tIns="5715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Semantic = meaning match</a:t>
            </a:r>
          </a:p>
        </p:txBody>
      </p:sp>
    </p:spTree>
    <p:extLst>
      <p:ext uri="{BB962C8B-B14F-4D97-AF65-F5344CB8AC3E}">
        <p14:creationId xmlns:p14="http://schemas.microsoft.com/office/powerpoint/2010/main" val="15393588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6DA3CF-ACED-4C0E-BB71-A405CCCA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Hybrid ranking and re-ranking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9C72F-514F-4DE5-A630-355CA37F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D7678-A298-4BD5-9A1B-D758EB8F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Hybrid search gathers candidates broadly, then ranks the strongest signal per chunk.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1EF2F-9791-4A8F-90C2-01519B98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Local Knowledge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8BFDF-ED74-4695-A662-1945F1BC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58C80-F0CC-4524-805E-F97ED18A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11633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171450" tIns="133350" rIns="171450" bIns="1143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finalScore = 0.65 * vectorScore + 0.30 * keywordScoreNormalized + 0.05 * recencyScore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47625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43e23bf32947a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25DF0-6B2B-454B-AD0F-E80389A3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381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171450" tIns="133350" rIns="171450" bIns="1143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Re-ranking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 Run semantic at 2x limit.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 Run keyword at 2x limit.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 Group candidates by chunk id.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4. Keep max vector and keyword signals.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5. Add recency and sort by final score.</a:t>
            </a:r>
          </a:p>
        </p:txBody>
      </p:sp>
    </p:spTree>
    <p:extLst>
      <p:ext uri="{BB962C8B-B14F-4D97-AF65-F5344CB8AC3E}">
        <p14:creationId xmlns:p14="http://schemas.microsoft.com/office/powerpoint/2010/main" val="16470774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119BD2-223E-4665-BBC0-6ABA9A58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Grounded agent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16772-4FE9-4285-86D8-6C044220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B0510-4501-4F69-BCFA-5445E1A5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The agent retrieves local chunks first; it does not train on the local database.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E0366-072D-4723-8541-F9BB932C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Local Knowledge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41467-3EAD-45B8-AB4C-C35B7476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584B8-80E0-4DFC-8EA2-D292F099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26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User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00A0D-4F1B-4D01-BBB9-1FD7896D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000" y="24860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E7813-39B9-4B8A-AA5C-E48A588B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150" y="2266950"/>
            <a:ext cx="126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Selected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search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29609-ADAE-431B-B0EE-E17CCE91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350" y="24860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42917-BB1F-4681-BE1E-19A85E87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266950"/>
            <a:ext cx="126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Top K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chunks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CFFE2-49FD-43BA-ACA2-C1544A72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860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A7DE6-C394-4D7A-9780-7FA6BC5F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126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Grounded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D560F-F97E-40F6-9B26-258436B7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050" y="24860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F869C-C776-4E95-BA7B-24F93FAD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266950"/>
            <a:ext cx="126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OpenAI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90EE4-6E95-4BF4-A9EB-6D593356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24860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8A0E8C-2BB6-406E-A894-D387461F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550" y="2266950"/>
            <a:ext cx="126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Citations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+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8CDC5-6988-4B3F-B8E7-57101F72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57625"/>
            <a:ext cx="52578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209550" tIns="209550" rIns="209550" bIns="1524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Prompt guardrails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retrieved local context, say when context is insufficient, and do not invent citations.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037905-1004-4E4D-94AD-7D9BE1D9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57625"/>
            <a:ext cx="52578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209550" tIns="209550" rIns="209550" bIns="1524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Inspectable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app stores retrieval duration, answer generation duration, citation count, answer text, and run steps.</a:t>
            </a:r>
          </a:p>
        </p:txBody>
      </p:sp>
    </p:spTree>
    <p:extLst>
      <p:ext uri="{BB962C8B-B14F-4D97-AF65-F5344CB8AC3E}">
        <p14:creationId xmlns:p14="http://schemas.microsoft.com/office/powerpoint/2010/main" val="9965306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53A3B2-C388-4ACE-8D7F-B01DB9E1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Evaluation and quality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C6EFB-BA63-4501-9793-EC5E39D0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98867-568F-4AA2-818F-1C92E5A1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Evaluation makes retrieval quality repeatable instead of anecdotal.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FB683-58CA-4B3B-928E-B173D8AA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Local Knowledge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755F2-CD1C-401B-95E1-6B3BDC36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11A43-BF2E-43E6-9AA0-5B1EAF1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21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Generate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AEB42-74E9-4206-BD07-0FEAA334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003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1E933-553E-46A7-B3D2-EA58650D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90750"/>
            <a:ext cx="121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Run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retrieval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B4D1E-8D15-4C23-A3FC-57F4CD22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003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4A737-BD29-4C32-ADC6-2B6B2D27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90750"/>
            <a:ext cx="121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Score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ECCB3-6826-4E3E-809A-9AA2CCFF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003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B31F7-6E28-4F67-AFB8-CD0A1C8D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121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Inspect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misses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3B0F0-E58E-471E-95CE-43954532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03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89AC0-B208-4CD6-BEE3-0778C6FA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121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Tune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ranking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DB358-A8EC-4D47-B009-C7169CA1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003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E5B28-A82C-4DE4-8D6B-8ECB9D0A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90750"/>
            <a:ext cx="121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Report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1C640-52A5-440F-9D8F-F4B88B7B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2375"/>
            <a:ext cx="27908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Evaluation signal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40895-A7A4-41C2-B51C-500AC703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762375"/>
            <a:ext cx="446532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How it is computed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78C6B-ACB8-4DD1-AE19-A2031BC2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0495" y="3762375"/>
            <a:ext cx="390715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helps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18EA67-D01A-4B90-94C0-AD6D0719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00525"/>
            <a:ext cx="27908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Expected documents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43ECFF-1E14-4237-909B-48AF2A33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200525"/>
            <a:ext cx="446532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Checks whether known source titles appear in top results.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92B18A-6429-4AEA-84C9-8BD5BD4D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0495" y="4200525"/>
            <a:ext cx="390715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Measures retrieval correctness.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7BBFA3-C6B8-431D-B0AB-B0823C8E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57725"/>
            <a:ext cx="27908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Expected keywords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F514F8-91A2-4D26-9B49-82CC5C33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657725"/>
            <a:ext cx="446532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Compares retrieved titles, snippets, and matched fields.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D68C46-376E-4CDC-BD84-D68D8FFA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0495" y="4657725"/>
            <a:ext cx="390715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Shows what relevant terms were covered.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CCAE3B-EF07-4DB6-947B-D2730166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14925"/>
            <a:ext cx="27908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Failed cases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FD2C3A-8323-4AA0-875B-24B06345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114925"/>
            <a:ext cx="446532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Stores missing documents and top retrieved chunks.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6C84DA-59AE-4CAE-9B75-3B65E06C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0495" y="5114925"/>
            <a:ext cx="390715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Guides chunk-size, overlap, and scoring changes.</a:t>
            </a:r>
          </a:p>
        </p:txBody>
      </p:sp>
    </p:spTree>
    <p:extLst>
      <p:ext uri="{BB962C8B-B14F-4D97-AF65-F5344CB8AC3E}">
        <p14:creationId xmlns:p14="http://schemas.microsoft.com/office/powerpoint/2010/main" val="9414404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F28C6F-FB50-47F1-9837-18828210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.NET 9 and .NET 10 features used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247FA-66B8-443E-9143-D193AC1B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7635F-F89A-42D8-BC71-368F6875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Platform features are applied where they improve safety, compatibility, or operational quality.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DC7FE-7F86-40C7-BD9D-46C10F2F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Local Knowledge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E691D-2E3A-4F47-9258-09D3D273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1106E-5E14-4DE8-A817-51C4001D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786128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3103C-F44C-491A-A5B6-6ADD60A6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8" y="2095500"/>
            <a:ext cx="3014091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 used or inherited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E7E8C-9234-4A66-9A78-3470D04C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569" y="2095500"/>
            <a:ext cx="3014091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Where in this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3C59C-6B50-405B-BE0F-34BEA14D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660" y="2095500"/>
            <a:ext cx="334899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Improvement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D1367-5951-466B-9D68-D00C2AEC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786128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.NET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C0EEF-34F3-4223-A623-9EB28941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8" y="2533650"/>
            <a:ext cx="3014091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net10.0 target framework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34295-0F32-4CF6-B356-13045050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569" y="2533650"/>
            <a:ext cx="3014091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All backend projects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F19357-A749-4807-A641-194927BF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660" y="2533650"/>
            <a:ext cx="3348990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Uses .NET 10 LTS runtime, SDK, libraries, and ASP.NET Core stack.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98527-13AF-4819-8578-16F9444A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2770"/>
            <a:ext cx="1786128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.NET 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1F441-E387-4C9E-AB7D-FB21FFB7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8" y="3112770"/>
            <a:ext cx="3014091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JSON duplicate-property rejection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6C82D-31C6-4FFF-8D73-A2DF3074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569" y="3112770"/>
            <a:ext cx="3014091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Program.cs JSON options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A7DF8-8B16-4195-BEAD-C882FC4B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660" y="3112770"/>
            <a:ext cx="3348990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Rejects ambiguous request payloads.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AFF66-7DCA-47ED-AB1D-8C0ADE0D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1890"/>
            <a:ext cx="1786128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.NET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2D2C2C-4C65-405D-8B48-832A9E8E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8" y="3691890"/>
            <a:ext cx="3014091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ASP.NET Core 10 package 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E86D4-8EAD-4399-8C87-B853D68A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569" y="3691890"/>
            <a:ext cx="3014091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Auth, OpenAPI, hosting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526F3-4717-4D66-9824-E7CF620E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660" y="3691890"/>
            <a:ext cx="3348990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Keeps API infrastructure aligned with the target runtime.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7D685-99BB-4B49-BB35-E3873A0B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71010"/>
            <a:ext cx="1786128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.NET 9+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F61D73-2E26-43F8-84F2-3FBFE60F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8" y="4271010"/>
            <a:ext cx="3014091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Built-in OpenAPI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A95DFB-4361-4037-9BB7-865A83D2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569" y="4271010"/>
            <a:ext cx="3014091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AddOpenApi and MapOpenApi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F3D567-90C5-40C4-A6F0-15FA7CBB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660" y="4271010"/>
            <a:ext cx="3348990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Exposes first-party OpenAPI JSON alongside Swagger UI.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EAA0AD-1C35-4E48-9197-8C769148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0130"/>
            <a:ext cx="1786128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.NET 9+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C23EDE-C9BC-4697-AA3F-0DE68056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8" y="4850130"/>
            <a:ext cx="3014091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Runtime, SDK, performance updates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E1089B-ADB9-4CCD-ACB2-5E51BADF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569" y="4850130"/>
            <a:ext cx="3014091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Inherited through net10.0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F1EC2F-2AB3-413F-8D8F-A23E000E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660" y="4850130"/>
            <a:ext cx="3348990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Benefits from later JIT, GC, tooling, and library improvements.</a:t>
            </a:r>
          </a:p>
        </p:txBody>
      </p:sp>
    </p:spTree>
    <p:extLst>
      <p:ext uri="{BB962C8B-B14F-4D97-AF65-F5344CB8AC3E}">
        <p14:creationId xmlns:p14="http://schemas.microsoft.com/office/powerpoint/2010/main" val="12315078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EC7F7F-6594-4951-A7A1-6AEA1980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C# 13 and C# 14 features used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5593D-CC0B-43A4-9E34-F34126E6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635FB-6FD1-4B2D-B71E-9F600726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Language features are conservative and tied to readability or correctness.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3AA22-D560-4483-932B-C7FC86F2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Local Knowledge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1B926-65D8-436E-9EA0-68246893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DEB8F-8E4D-4D99-870B-BE03BEFA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786128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82DD6-6459-42BC-A9F7-7EF57109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8" y="2095500"/>
            <a:ext cx="2902458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2839F-4DD5-4880-8EC0-F15E3015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2095500"/>
            <a:ext cx="334899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Where used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E9E30-DC1C-4A15-B3D3-562FB7A7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926" y="2095500"/>
            <a:ext cx="3125724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Improvement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F723B-5297-46CD-9C6A-B51AC53A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786128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C# 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13589-BC9C-4DE2-9DBC-C6730DAB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8" y="2533650"/>
            <a:ext cx="2902458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field-backed properties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8B456-BB7A-4F07-B111-C2C3F31B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2533650"/>
            <a:ext cx="3348990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JwtOptions, OpenAiOptions, ChunkingOptions, SearchOptions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595AB-7749-484A-80EF-3E41522D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926" y="2533650"/>
            <a:ext cx="3125724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Validation and normalization without hand-written backing fields.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9A8CA-B5B8-41DC-921E-8AB5073E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2770"/>
            <a:ext cx="1786128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C# 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8D692-5F43-4244-B3D9-DA7D3D9E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8" y="3112770"/>
            <a:ext cx="2902458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System.Threading.Lock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DDCAD-C9DA-4B8D-9695-5B379E27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3112770"/>
            <a:ext cx="3348990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RuntimeSettings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A20B6-E4EB-41FF-AB25-A9E9F856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926" y="3112770"/>
            <a:ext cx="3125724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Modern lock semantics for synchronized runtime settings.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D5DA0-BE8E-44CF-9ACA-EE8E4D85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1890"/>
            <a:ext cx="1786128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C# 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42A009-B502-4EF7-B38F-F1330EF9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8" y="3691890"/>
            <a:ext cx="2902458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params ReadOnlySpan&lt;string&gt;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8CA637-1BDB-4E65-B2FA-26EF6D89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3691890"/>
            <a:ext cx="3348990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ValidationFailureException.For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95C02-70C4-4CAC-B78A-07CAC698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926" y="3691890"/>
            <a:ext cx="3125724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Concise validation error construction without array noise.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2D0A14-0BB8-42F5-B57F-237A7CA4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71010"/>
            <a:ext cx="1786128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Modern C#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EB2EED-6E3D-4B86-AF2C-D14A4C6D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8" y="4271010"/>
            <a:ext cx="2902458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Records and primary constructors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E01D0B-4305-4519-BCF2-B35F77F7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4271010"/>
            <a:ext cx="3348990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Contracts, services, repositories, clients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1C45BE-F806-4901-82BB-B3683327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926" y="4271010"/>
            <a:ext cx="3125724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Less boilerplate while keeping dependencies explicit.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425980-40C7-4701-8211-C269F144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0130"/>
            <a:ext cx="1786128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Modern C#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D64BC6-6510-4215-846B-F2B99614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8" y="4850130"/>
            <a:ext cx="2902458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Collection expressions and nullable refs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84BBDF-0601-4DA3-BF59-72008EAF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4850130"/>
            <a:ext cx="3348990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Domain, validators, tests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F204C7-1294-4FCC-BE82-1584C152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926" y="4850130"/>
            <a:ext cx="3125724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Readable collection setup and safer null contracts.</a:t>
            </a:r>
          </a:p>
        </p:txBody>
      </p:sp>
    </p:spTree>
    <p:extLst>
      <p:ext uri="{BB962C8B-B14F-4D97-AF65-F5344CB8AC3E}">
        <p14:creationId xmlns:p14="http://schemas.microsoft.com/office/powerpoint/2010/main" val="12551589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09C557-A56A-4C64-A3BF-27B772F6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Demo runbook and closing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E40F9-A5CA-4447-8C26-EDAB21DC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25259-0437-4A98-89CC-58B2EEB3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A short path to validate the complete application locally.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A4059-8897-45F1-8A8E-4F54FDA8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Local Knowledge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E501A-C299-49A4-8BE3-B22029D9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173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140C0-E715-49FD-91D5-89A95DB2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26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Set .env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0DF28-D0A0-4261-8871-61DDDCA8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000" y="24098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B270E-74C7-4C10-8A50-D6F35DB8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150" y="2190750"/>
            <a:ext cx="126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docker compose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up --build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E132D-F855-4DD5-8E1E-259C75E3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350" y="24098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44860-8858-4F45-AA6B-1396C217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190750"/>
            <a:ext cx="126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Login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admin/admin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59497-2E0D-4018-9C11-11EC9718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098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6EC7C-6ADB-4F0B-858D-171C1A19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126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Upload or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create docs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BC5FD-5D63-44E1-915B-7913CA93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050" y="24098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DD9CF-7E93-4016-86BA-1A39947E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190750"/>
            <a:ext cx="126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3D4C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Re-index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B45F2-69A6-429F-B189-D422B98D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24098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F0CF4-AA74-47FC-A8C2-04267234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550" y="2190750"/>
            <a:ext cx="126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B7CFFC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Search,</a:t>
            </a:r>
          </a:p>
          <a:p xmlns:a="http://schemas.openxmlformats.org/drawingml/2006/main">
            <a:pPr algn="ctr">
              <a:defRPr sz="1275" b="1">
                <a:solidFill>
                  <a:srgbClr val="0F27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742"/>
                </a:solidFill>
                <a:latin typeface="Aptos"/>
                <a:ea typeface="Aptos"/>
                <a:cs typeface="Aptos"/>
              </a:rPr>
              <a:t>ask, evaluate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7D251-75EB-441A-BD1F-2CF30B17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226314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29A0C-117F-41BF-998A-EA58CBE3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3762375"/>
            <a:ext cx="802386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txBody>
          <a:bodyPr xmlns:a="http://schemas.openxmlformats.org/drawingml/2006/main" lIns="95250" tIns="76200" rIns="9525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to show in a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F24721-2F5A-46CD-8DE4-87F6B490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2263140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B4E6F0-B35C-496A-891B-FFC6522E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4200525"/>
            <a:ext cx="8023860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Upload a Markdown/text file, save and embed, then open the detail page and inspect chunks.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FF728-BEC0-491F-A373-618FD1D5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2263140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EEE572-613C-4491-A903-2C61F5FB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4591050"/>
            <a:ext cx="8023860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Run keyword, semantic, and hybrid queries and compare score signals.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BAD592-32B7-4FE7-8FB1-BB4CD014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81575"/>
            <a:ext cx="2263140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4C4A8C-310D-4116-A00C-D1EF8BBD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4981575"/>
            <a:ext cx="8023860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Ask a question and inspect citations plus run steps.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F5FA07-682E-4F11-912C-E42D22E3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2263140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03AD36-FD7F-4952-BD18-030F2B78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5372100"/>
            <a:ext cx="8023860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  <p:txBody>
          <a:bodyPr xmlns:a="http://schemas.openxmlformats.org/drawingml/2006/main" lIns="95250" tIns="7620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Run evaluation after changing chunking or ranking settings to check retrieval quality.</a:t>
            </a:r>
          </a:p>
        </p:txBody>
      </p:sp>
    </p:spTree>
    <p:extLst>
      <p:ext uri="{BB962C8B-B14F-4D97-AF65-F5344CB8AC3E}">
        <p14:creationId xmlns:p14="http://schemas.microsoft.com/office/powerpoint/2010/main" val="719089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2026-06-21T18:37:09.7460000Z</dcterms:created>
  <dcterms:modified xsi:type="dcterms:W3CDTF">2026-06-21T18:37:09.7460000Z</dcterms:modified>
</coreProperties>
</file>